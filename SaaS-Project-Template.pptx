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77" r:id="rId13"/>
    <p:sldId id="278" r:id="rId14"/>
    <p:sldId id="267" r:id="rId15"/>
    <p:sldId id="268" r:id="rId16"/>
    <p:sldId id="269" r:id="rId17"/>
    <p:sldId id="270" r:id="rId18"/>
    <p:sldId id="271" r:id="rId19"/>
    <p:sldId id="272" r:id="rId20"/>
    <p:sldId id="273" r:id="rId21"/>
    <p:sldId id="274" r:id="rId22"/>
    <p:sldId id="275" r:id="rId23"/>
    <p:sldId id="276" r:id="rId24"/>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Lato" panose="020F0502020204030203"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113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Lato"/>
                <a:ea typeface="Lato"/>
                <a:cs typeface="Lato"/>
                <a:sym typeface="Lato"/>
              </a:rPr>
              <a:t>‹#›</a:t>
            </a:fld>
            <a:endParaRPr sz="1200" b="0" i="0" u="none" strike="noStrike" cap="none">
              <a:solidFill>
                <a:schemeClr val="dk1"/>
              </a:solidFill>
              <a:latin typeface="Lato"/>
              <a:ea typeface="Lato"/>
              <a:cs typeface="Lato"/>
              <a:sym typeface="Lato"/>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Problem Statement</a:t>
            </a:r>
            <a:endParaRPr/>
          </a:p>
        </p:txBody>
      </p:sp>
      <p:sp>
        <p:nvSpPr>
          <p:cNvPr id="90" name="Google Shape;9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7" name="Google Shape;9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 name="Google Shape;108;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Provide at least three questions under each branch.</a:t>
            </a:r>
            <a:endParaRPr/>
          </a:p>
        </p:txBody>
      </p:sp>
      <p:sp>
        <p:nvSpPr>
          <p:cNvPr id="109" name="Google Shape;10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All the frameworks that are used should be mentioned.</a:t>
            </a:r>
            <a:endParaRPr/>
          </a:p>
          <a:p>
            <a:pPr marL="457200" lvl="0" indent="-228600" algn="l" rtl="0">
              <a:lnSpc>
                <a:spcPct val="100000"/>
              </a:lnSpc>
              <a:spcBef>
                <a:spcPts val="0"/>
              </a:spcBef>
              <a:spcAft>
                <a:spcPts val="0"/>
              </a:spcAft>
              <a:buSzPts val="1400"/>
              <a:buFont typeface="Lato"/>
              <a:buChar char="-"/>
            </a:pPr>
            <a:r>
              <a:rPr lang="en-US"/>
              <a:t>A suitable reason is a must to provide here</a:t>
            </a:r>
            <a:endParaRPr/>
          </a:p>
        </p:txBody>
      </p:sp>
      <p:sp>
        <p:nvSpPr>
          <p:cNvPr id="120" name="Google Shape;12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Use the “download as” feature of Coggle if you are using the tool.</a:t>
            </a:r>
            <a:endParaRPr/>
          </a:p>
          <a:p>
            <a:pPr marL="457200" lvl="0" indent="-228600" algn="l" rtl="0">
              <a:lnSpc>
                <a:spcPct val="100000"/>
              </a:lnSpc>
              <a:spcBef>
                <a:spcPts val="0"/>
              </a:spcBef>
              <a:spcAft>
                <a:spcPts val="0"/>
              </a:spcAft>
              <a:buSzPts val="1400"/>
              <a:buFont typeface="Lato"/>
              <a:buChar char="-"/>
            </a:pPr>
            <a:r>
              <a:rPr lang="en-US"/>
              <a:t>Provide one image with complete tree along with separate elements where the text is readable.</a:t>
            </a:r>
            <a:endParaRPr/>
          </a:p>
          <a:p>
            <a:pPr marL="457200" lvl="0" indent="-228600" algn="l" rtl="0">
              <a:lnSpc>
                <a:spcPct val="100000"/>
              </a:lnSpc>
              <a:spcBef>
                <a:spcPts val="0"/>
              </a:spcBef>
              <a:spcAft>
                <a:spcPts val="0"/>
              </a:spcAft>
              <a:buSzPts val="1400"/>
              <a:buChar char="-"/>
            </a:pPr>
            <a:r>
              <a:rPr lang="en-US"/>
              <a:t>Copy the slide if you require more space</a:t>
            </a:r>
            <a:endParaRPr/>
          </a:p>
        </p:txBody>
      </p:sp>
      <p:sp>
        <p:nvSpPr>
          <p:cNvPr id="127" name="Google Shape;12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34" name="Google Shape;13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2" name="Google Shape;14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43" name="Google Shape;14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52" name="Google Shape;15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a:p>
            <a:pPr marL="457200" marR="0" lvl="0" indent="-228600" algn="l" rtl="0">
              <a:lnSpc>
                <a:spcPct val="100000"/>
              </a:lnSpc>
              <a:spcBef>
                <a:spcPts val="0"/>
              </a:spcBef>
              <a:spcAft>
                <a:spcPts val="0"/>
              </a:spcAft>
              <a:buSzPts val="1400"/>
              <a:buNone/>
            </a:pPr>
            <a:endParaRPr/>
          </a:p>
        </p:txBody>
      </p:sp>
      <p:sp>
        <p:nvSpPr>
          <p:cNvPr id="161" name="Google Shape;161;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lvl="0" indent="-228600" algn="l" rtl="0">
              <a:lnSpc>
                <a:spcPct val="100000"/>
              </a:lnSpc>
              <a:spcBef>
                <a:spcPts val="0"/>
              </a:spcBef>
              <a:spcAft>
                <a:spcPts val="0"/>
              </a:spcAft>
              <a:buSzPts val="1400"/>
              <a:buFont typeface="Lato"/>
              <a:buChar char="-"/>
            </a:pPr>
            <a:r>
              <a:rPr lang="en-US"/>
              <a:t>Each branch must follow this naming pattern:</a:t>
            </a:r>
            <a:br>
              <a:rPr lang="en-US"/>
            </a:br>
            <a:r>
              <a:rPr lang="en-US"/>
              <a:t>Problem – Branch 1 – Sub-branch 1 – Sub-branch 2 – …… – Hypotheses </a:t>
            </a:r>
            <a:endParaRPr/>
          </a:p>
          <a:p>
            <a:pPr marL="457200" lvl="0" indent="-228600" algn="l" rtl="0">
              <a:lnSpc>
                <a:spcPct val="100000"/>
              </a:lnSpc>
              <a:spcBef>
                <a:spcPts val="0"/>
              </a:spcBef>
              <a:spcAft>
                <a:spcPts val="0"/>
              </a:spcAft>
              <a:buSzPts val="1400"/>
              <a:buFont typeface="Lato"/>
              <a:buChar char="-"/>
            </a:pPr>
            <a:r>
              <a:rPr lang="en-US"/>
              <a:t>There must be minimum 10 hypotheses in total and at least 1 in each branch.</a:t>
            </a:r>
            <a:endParaRPr/>
          </a:p>
        </p:txBody>
      </p:sp>
      <p:sp>
        <p:nvSpPr>
          <p:cNvPr id="170" name="Google Shape;170;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Analyse the variables in the dataset, find the insights and mention the pattern of insights in the data. Make more copies of this slide if needed.</a:t>
            </a:r>
            <a:endParaRPr/>
          </a:p>
        </p:txBody>
      </p:sp>
      <p:sp>
        <p:nvSpPr>
          <p:cNvPr id="179" name="Google Shape;179;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7" name="Google Shape;187;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88" name="Google Shape;188;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15</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195" name="Google Shape;19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16</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2" name="Google Shape;202;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17</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a:t>
            </a:r>
            <a:endParaRPr/>
          </a:p>
        </p:txBody>
      </p:sp>
      <p:sp>
        <p:nvSpPr>
          <p:cNvPr id="209" name="Google Shape;20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18</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variable that produced an interesting insight, explain you analysis bit here – the results you got from excel and the necessary visualisations. Note: it is compulsory for you to mention the results of the analysis on these variables - 'Technology Primary', 'B2B Sales Medium', 'Client Revenue Sizing', 'Opportunity Sizing' and 'Business from Client last year’. Make more copies of this slide if needed.</a:t>
            </a:r>
            <a:endParaRPr/>
          </a:p>
        </p:txBody>
      </p:sp>
      <p:sp>
        <p:nvSpPr>
          <p:cNvPr id="216" name="Google Shape;216;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19</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For each recommendation explain the insights that form the reasoning for giving that recommendation. Make more copies of this slide if necessary.</a:t>
            </a:r>
            <a:endParaRPr/>
          </a:p>
        </p:txBody>
      </p:sp>
      <p:sp>
        <p:nvSpPr>
          <p:cNvPr id="223" name="Google Shape;223;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20</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0" name="Google Shape;23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31" name="Google Shape;231;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21</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37" name="Google Shape;237;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22</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You are free to use the elements and boxes mentioned previously. Make sure you’re using the pyramid principle, data visualization, visual design principle and storyboarding concepts to design these slides.</a:t>
            </a:r>
            <a:endParaRPr/>
          </a:p>
        </p:txBody>
      </p:sp>
      <p:sp>
        <p:nvSpPr>
          <p:cNvPr id="243" name="Google Shape;243;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lstStyle>
            <a:lvl1pPr lvl="0" algn="ctr">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lstStyle>
            <a:lvl1pPr lvl="0" algn="ctr">
              <a:lnSpc>
                <a:spcPct val="90000"/>
              </a:lnSpc>
              <a:spcBef>
                <a:spcPts val="1000"/>
              </a:spcBef>
              <a:spcAft>
                <a:spcPts val="0"/>
              </a:spcAft>
              <a:buClr>
                <a:schemeClr val="dk1"/>
              </a:buClr>
              <a:buSzPts val="2400"/>
              <a:buNone/>
              <a:defRPr sz="2400">
                <a:latin typeface="Lato"/>
                <a:ea typeface="Lato"/>
                <a:cs typeface="Lato"/>
                <a:sym typeface="La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6000"/>
              <a:buFont typeface="Lato"/>
              <a:buNone/>
              <a:defRPr sz="60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rgbClr val="888888"/>
              </a:buClr>
              <a:buSzPts val="2400"/>
              <a:buNone/>
              <a:defRPr sz="2400">
                <a:solidFill>
                  <a:srgbClr val="888888"/>
                </a:solidFill>
                <a:latin typeface="Lato"/>
                <a:ea typeface="Lato"/>
                <a:cs typeface="Lato"/>
                <a:sym typeface="Lato"/>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9"/>
        <p:cNvGrpSpPr/>
        <p:nvPr/>
      </p:nvGrpSpPr>
      <p:grpSpPr>
        <a:xfrm>
          <a:off x="0" y="0"/>
          <a:ext cx="0" cy="0"/>
          <a:chOff x="0" y="0"/>
          <a:chExt cx="0" cy="0"/>
        </a:xfrm>
      </p:grpSpPr>
      <p:sp>
        <p:nvSpPr>
          <p:cNvPr id="50" name="Google Shape;5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atin typeface="Lato"/>
                <a:ea typeface="Lato"/>
                <a:cs typeface="Lato"/>
                <a:sym typeface="Lato"/>
              </a:defRPr>
            </a:lvl1pPr>
            <a:lvl2pPr marL="914400" lvl="1" indent="-406400" algn="l">
              <a:lnSpc>
                <a:spcPct val="90000"/>
              </a:lnSpc>
              <a:spcBef>
                <a:spcPts val="500"/>
              </a:spcBef>
              <a:spcAft>
                <a:spcPts val="0"/>
              </a:spcAft>
              <a:buClr>
                <a:schemeClr val="dk1"/>
              </a:buClr>
              <a:buSzPts val="2800"/>
              <a:buChar char="•"/>
              <a:defRPr sz="2800">
                <a:latin typeface="Lato"/>
                <a:ea typeface="Lato"/>
                <a:cs typeface="Lato"/>
                <a:sym typeface="Lato"/>
              </a:defRPr>
            </a:lvl2pPr>
            <a:lvl3pPr marL="1371600" lvl="2" indent="-381000" algn="l">
              <a:lnSpc>
                <a:spcPct val="90000"/>
              </a:lnSpc>
              <a:spcBef>
                <a:spcPts val="500"/>
              </a:spcBef>
              <a:spcAft>
                <a:spcPts val="0"/>
              </a:spcAft>
              <a:buClr>
                <a:schemeClr val="dk1"/>
              </a:buClr>
              <a:buSzPts val="2400"/>
              <a:buChar char="•"/>
              <a:defRPr sz="2400">
                <a:latin typeface="Lato"/>
                <a:ea typeface="Lato"/>
                <a:cs typeface="Lato"/>
                <a:sym typeface="Lato"/>
              </a:defRPr>
            </a:lvl3pPr>
            <a:lvl4pPr marL="1828800" lvl="3" indent="-355600" algn="l">
              <a:lnSpc>
                <a:spcPct val="90000"/>
              </a:lnSpc>
              <a:spcBef>
                <a:spcPts val="500"/>
              </a:spcBef>
              <a:spcAft>
                <a:spcPts val="0"/>
              </a:spcAft>
              <a:buClr>
                <a:schemeClr val="dk1"/>
              </a:buClr>
              <a:buSzPts val="2000"/>
              <a:buChar char="•"/>
              <a:defRPr sz="2000">
                <a:latin typeface="Lato"/>
                <a:ea typeface="Lato"/>
                <a:cs typeface="Lato"/>
                <a:sym typeface="Lato"/>
              </a:defRPr>
            </a:lvl4pPr>
            <a:lvl5pPr marL="2286000" lvl="4" indent="-355600" algn="l">
              <a:lnSpc>
                <a:spcPct val="90000"/>
              </a:lnSpc>
              <a:spcBef>
                <a:spcPts val="500"/>
              </a:spcBef>
              <a:spcAft>
                <a:spcPts val="0"/>
              </a:spcAft>
              <a:buClr>
                <a:schemeClr val="dk1"/>
              </a:buClr>
              <a:buSzPts val="2000"/>
              <a:buChar char="•"/>
              <a:defRPr sz="2000">
                <a:latin typeface="Lato"/>
                <a:ea typeface="Lato"/>
                <a:cs typeface="Lato"/>
                <a:sym typeface="Lato"/>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6" name="Google Shape;56;p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7" name="Google Shape;5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9"/>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Lato"/>
                <a:ea typeface="Lato"/>
                <a:cs typeface="Lato"/>
                <a:sym typeface="Lato"/>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Lato"/>
                <a:ea typeface="Lato"/>
                <a:cs typeface="Lato"/>
                <a:sym typeface="Lato"/>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68" name="Google Shape;6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0"/>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3"/>
        <p:cNvGrpSpPr/>
        <p:nvPr/>
      </p:nvGrpSpPr>
      <p:grpSpPr>
        <a:xfrm>
          <a:off x="0" y="0"/>
          <a:ext cx="0" cy="0"/>
          <a:chOff x="0" y="0"/>
          <a:chExt cx="0" cy="0"/>
        </a:xfrm>
      </p:grpSpPr>
      <p:sp>
        <p:nvSpPr>
          <p:cNvPr id="74" name="Google Shape;74;p11"/>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1"/>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Lato"/>
              <a:buNone/>
              <a:defRPr sz="44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1446847" y="622499"/>
            <a:ext cx="9877789" cy="73947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43F3C"/>
              </a:buClr>
              <a:buSzPts val="3600"/>
              <a:buFont typeface="Lato"/>
              <a:buNone/>
            </a:pPr>
            <a:r>
              <a:rPr lang="en-US" sz="3600" b="1">
                <a:solidFill>
                  <a:srgbClr val="F43F3C"/>
                </a:solidFill>
              </a:rPr>
              <a:t>ASSIGNMENT GUIDELINES</a:t>
            </a:r>
            <a:endParaRPr/>
          </a:p>
        </p:txBody>
      </p:sp>
      <p:sp>
        <p:nvSpPr>
          <p:cNvPr id="85" name="Google Shape;85;p12"/>
          <p:cNvSpPr txBox="1"/>
          <p:nvPr/>
        </p:nvSpPr>
        <p:spPr>
          <a:xfrm>
            <a:off x="602478" y="1526520"/>
            <a:ext cx="10987044" cy="4708981"/>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Make </a:t>
            </a:r>
            <a:r>
              <a:rPr lang="en-US" sz="2000">
                <a:solidFill>
                  <a:srgbClr val="757070"/>
                </a:solidFill>
                <a:latin typeface="Lato"/>
                <a:ea typeface="Lato"/>
                <a:cs typeface="Lato"/>
                <a:sym typeface="Lato"/>
              </a:rPr>
              <a:t>the changes in the</a:t>
            </a:r>
            <a:r>
              <a:rPr lang="en-US" sz="2000" b="0" i="0" u="none" strike="noStrike" cap="none">
                <a:solidFill>
                  <a:srgbClr val="757070"/>
                </a:solidFill>
                <a:latin typeface="Lato"/>
                <a:ea typeface="Lato"/>
                <a:cs typeface="Lato"/>
                <a:sym typeface="Lato"/>
              </a:rPr>
              <a:t> PPT </a:t>
            </a:r>
            <a:r>
              <a:rPr lang="en-US" sz="2000">
                <a:solidFill>
                  <a:srgbClr val="757070"/>
                </a:solidFill>
                <a:latin typeface="Lato"/>
                <a:ea typeface="Lato"/>
                <a:cs typeface="Lato"/>
                <a:sym typeface="Lato"/>
              </a:rPr>
              <a:t>as you solve the parts</a:t>
            </a:r>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This file contains the template for all the parts of the project.</a:t>
            </a:r>
            <a:endParaRPr sz="1400" b="0" i="0" u="none" strike="noStrike" cap="none">
              <a:solidFill>
                <a:srgbClr val="000000"/>
              </a:solidFill>
              <a:latin typeface="Arial"/>
              <a:ea typeface="Arial"/>
              <a:cs typeface="Arial"/>
              <a:sym typeface="Arial"/>
            </a:endParaRPr>
          </a:p>
          <a:p>
            <a:pPr marL="342900" marR="0" lvl="0" indent="-215900" algn="l" rtl="0">
              <a:lnSpc>
                <a:spcPct val="100000"/>
              </a:lnSpc>
              <a:spcBef>
                <a:spcPts val="0"/>
              </a:spcBef>
              <a:spcAft>
                <a:spcPts val="0"/>
              </a:spcAft>
              <a:buClr>
                <a:schemeClr val="dk1"/>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Check the instructions added in the note section of every slide for clarity.</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757070"/>
              </a:solidFill>
              <a:latin typeface="Lato"/>
              <a:ea typeface="Lato"/>
              <a:cs typeface="Lato"/>
              <a:sym typeface="Lato"/>
            </a:endParaRPr>
          </a:p>
          <a:p>
            <a:pPr marL="342900" marR="0" lvl="0" indent="-34290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Don’t move around any image or text box</a:t>
            </a: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a:p>
            <a:pPr marL="285750" marR="0" lvl="0" indent="-285750" algn="l" rtl="0">
              <a:lnSpc>
                <a:spcPct val="100000"/>
              </a:lnSpc>
              <a:spcBef>
                <a:spcPts val="0"/>
              </a:spcBef>
              <a:spcAft>
                <a:spcPts val="0"/>
              </a:spcAft>
              <a:buClr>
                <a:srgbClr val="757070"/>
              </a:buClr>
              <a:buSzPts val="2000"/>
              <a:buFont typeface="Arial"/>
              <a:buChar char="•"/>
            </a:pPr>
            <a:r>
              <a:rPr lang="en-US" sz="2000" b="0" i="0" u="none" strike="noStrike" cap="none">
                <a:solidFill>
                  <a:srgbClr val="757070"/>
                </a:solidFill>
                <a:latin typeface="Lato"/>
                <a:ea typeface="Lato"/>
                <a:cs typeface="Lato"/>
                <a:sym typeface="Lato"/>
              </a:rPr>
              <a:t>If you require more/lesser elements, be careful when you copy/delete the existing ones.</a:t>
            </a:r>
            <a:endParaRPr/>
          </a:p>
          <a:p>
            <a:pPr marL="285750" marR="0" lvl="0" indent="-158750" algn="l" rtl="0">
              <a:lnSpc>
                <a:spcPct val="100000"/>
              </a:lnSpc>
              <a:spcBef>
                <a:spcPts val="0"/>
              </a:spcBef>
              <a:spcAft>
                <a:spcPts val="0"/>
              </a:spcAft>
              <a:buClr>
                <a:srgbClr val="757070"/>
              </a:buClr>
              <a:buSzPts val="2000"/>
              <a:buFont typeface="Arial"/>
              <a:buNone/>
            </a:pPr>
            <a:endParaRPr sz="2000" b="0" i="0" u="none" strike="noStrike" cap="none">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a:solidFill>
                <a:srgbClr val="757070"/>
              </a:solidFill>
              <a:latin typeface="Lato"/>
              <a:ea typeface="Lato"/>
              <a:cs typeface="Lato"/>
              <a:sym typeface="Lato"/>
            </a:endParaRPr>
          </a:p>
        </p:txBody>
      </p:sp>
      <p:pic>
        <p:nvPicPr>
          <p:cNvPr id="1026" name="Picture 2">
            <a:extLst>
              <a:ext uri="{FF2B5EF4-FFF2-40B4-BE49-F238E27FC236}">
                <a16:creationId xmlns:a16="http://schemas.microsoft.com/office/drawing/2014/main" id="{51497B4F-1503-DCA8-7DE7-2C45118B63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2636" y="9123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838200" y="1189588"/>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sz="4000" b="1" dirty="0">
                <a:solidFill>
                  <a:srgbClr val="EF413D"/>
                </a:solidFill>
              </a:rPr>
              <a:t>ASSIGNMENT</a:t>
            </a:r>
            <a:br>
              <a:rPr lang="en-US" sz="4000" b="1" dirty="0">
                <a:solidFill>
                  <a:srgbClr val="EF413D"/>
                </a:solidFill>
              </a:rPr>
            </a:br>
            <a:r>
              <a:rPr lang="en-US" sz="1100" b="1" dirty="0">
                <a:solidFill>
                  <a:srgbClr val="EF413D"/>
                </a:solidFill>
              </a:rPr>
              <a:t> </a:t>
            </a:r>
            <a:br>
              <a:rPr lang="en-US" sz="4000" b="1" dirty="0"/>
            </a:br>
            <a:r>
              <a:rPr lang="en-US" sz="3400" dirty="0">
                <a:solidFill>
                  <a:srgbClr val="5A5A5A"/>
                </a:solidFill>
              </a:rPr>
              <a:t>Name: Manish Shah.</a:t>
            </a:r>
            <a:endParaRPr dirty="0">
              <a:solidFill>
                <a:srgbClr val="5A5A5A"/>
              </a:solidFill>
            </a:endParaRPr>
          </a:p>
        </p:txBody>
      </p:sp>
      <p:sp>
        <p:nvSpPr>
          <p:cNvPr id="93" name="Google Shape;93;p13"/>
          <p:cNvSpPr txBox="1">
            <a:spLocks noGrp="1"/>
          </p:cNvSpPr>
          <p:nvPr>
            <p:ph type="body" idx="1"/>
          </p:nvPr>
        </p:nvSpPr>
        <p:spPr>
          <a:xfrm>
            <a:off x="838200" y="3339612"/>
            <a:ext cx="10515600" cy="3312300"/>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SzPts val="2800"/>
              <a:buNone/>
            </a:pPr>
            <a:r>
              <a:rPr lang="en-US" sz="2400">
                <a:solidFill>
                  <a:srgbClr val="EF413D"/>
                </a:solidFill>
              </a:rPr>
              <a:t>Problem Statement</a:t>
            </a:r>
            <a:br>
              <a:rPr lang="en-US"/>
            </a:br>
            <a:r>
              <a:rPr lang="en-US" sz="1400"/>
              <a:t> </a:t>
            </a:r>
            <a:br>
              <a:rPr lang="en-US"/>
            </a:br>
            <a:r>
              <a:rPr lang="en-US" sz="2000">
                <a:solidFill>
                  <a:srgbClr val="5A5A5A"/>
                </a:solidFill>
              </a:rPr>
              <a:t>The sales pipeline conversion percentage at TechnoServe (a tech SaaS startup) has dropped from 35% at the end of last fiscal (FY 2017-18) to 25% at present.</a:t>
            </a:r>
            <a:endParaRPr sz="2000">
              <a:solidFill>
                <a:srgbClr val="5A5A5A"/>
              </a:solidFill>
            </a:endParaRPr>
          </a:p>
          <a:p>
            <a:pPr marL="50800" lvl="0" indent="0" algn="l" rtl="0">
              <a:lnSpc>
                <a:spcPct val="90000"/>
              </a:lnSpc>
              <a:spcBef>
                <a:spcPts val="1000"/>
              </a:spcBef>
              <a:spcAft>
                <a:spcPts val="0"/>
              </a:spcAft>
              <a:buSzPts val="2800"/>
              <a:buNone/>
            </a:pPr>
            <a:endParaRPr sz="2000">
              <a:solidFill>
                <a:srgbClr val="5A5A5A"/>
              </a:solidFill>
            </a:endParaRPr>
          </a:p>
          <a:p>
            <a:pPr marL="50800" marR="0" lvl="0" indent="0" algn="l" rtl="0">
              <a:lnSpc>
                <a:spcPct val="90000"/>
              </a:lnSpc>
              <a:spcBef>
                <a:spcPts val="0"/>
              </a:spcBef>
              <a:spcAft>
                <a:spcPts val="0"/>
              </a:spcAft>
              <a:buSzPts val="2800"/>
              <a:buNone/>
            </a:pPr>
            <a:r>
              <a:rPr lang="en-US" sz="2400">
                <a:solidFill>
                  <a:srgbClr val="EF413D"/>
                </a:solidFill>
              </a:rPr>
              <a:t>Assignment Objective</a:t>
            </a:r>
            <a:endParaRPr sz="2400">
              <a:solidFill>
                <a:srgbClr val="EF413D"/>
              </a:solidFill>
            </a:endParaRPr>
          </a:p>
          <a:p>
            <a:pPr marL="50800" lvl="0" indent="0" algn="l" rtl="0">
              <a:spcBef>
                <a:spcPts val="0"/>
              </a:spcBef>
              <a:spcAft>
                <a:spcPts val="0"/>
              </a:spcAft>
              <a:buClr>
                <a:schemeClr val="dk1"/>
              </a:buClr>
              <a:buSzPts val="2800"/>
              <a:buFont typeface="Arial"/>
              <a:buNone/>
            </a:pPr>
            <a:r>
              <a:rPr lang="en-US" sz="1400"/>
              <a:t> </a:t>
            </a:r>
            <a:endParaRPr sz="2400">
              <a:solidFill>
                <a:srgbClr val="EF413D"/>
              </a:solidFill>
            </a:endParaRPr>
          </a:p>
          <a:p>
            <a:pPr marL="50800" marR="0" lvl="0" indent="0" algn="l" rtl="0">
              <a:lnSpc>
                <a:spcPct val="90000"/>
              </a:lnSpc>
              <a:spcBef>
                <a:spcPts val="0"/>
              </a:spcBef>
              <a:spcAft>
                <a:spcPts val="0"/>
              </a:spcAft>
              <a:buSzPts val="2800"/>
              <a:buNone/>
            </a:pPr>
            <a:r>
              <a:rPr lang="en-US" sz="2000">
                <a:solidFill>
                  <a:srgbClr val="5A5A5A"/>
                </a:solidFill>
              </a:rPr>
              <a:t>Understand the problem, come up with a hypothesis for low conversions faced by TechnoServe, and analyse the dataset provided to arrive at possible solutions to increase it.</a:t>
            </a:r>
            <a:endParaRPr sz="2000">
              <a:solidFill>
                <a:srgbClr val="5A5A5A"/>
              </a:solidFill>
            </a:endParaRPr>
          </a:p>
        </p:txBody>
      </p:sp>
      <p:pic>
        <p:nvPicPr>
          <p:cNvPr id="2050" name="Picture 2">
            <a:extLst>
              <a:ext uri="{FF2B5EF4-FFF2-40B4-BE49-F238E27FC236}">
                <a16:creationId xmlns:a16="http://schemas.microsoft.com/office/drawing/2014/main" id="{BC1717C9-A632-8382-9C7B-CAF87CA5C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1169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1.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00" name="Google Shape;100;p14"/>
          <p:cNvGrpSpPr/>
          <p:nvPr/>
        </p:nvGrpSpPr>
        <p:grpSpPr>
          <a:xfrm>
            <a:off x="589265" y="2008707"/>
            <a:ext cx="11005471" cy="4680040"/>
            <a:chOff x="589265" y="4726688"/>
            <a:chExt cx="11005471" cy="751196"/>
          </a:xfrm>
        </p:grpSpPr>
        <p:sp>
          <p:nvSpPr>
            <p:cNvPr id="101" name="Google Shape;101;p14"/>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Who?</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err="1">
                  <a:latin typeface="Lato"/>
                  <a:ea typeface="Lato"/>
                  <a:cs typeface="Lato"/>
                  <a:sym typeface="Lato"/>
                </a:rPr>
                <a:t>TechnoServe</a:t>
              </a:r>
              <a:r>
                <a:rPr lang="en-US" dirty="0">
                  <a:latin typeface="Lato"/>
                  <a:ea typeface="Lato"/>
                  <a:cs typeface="Lato"/>
                  <a:sym typeface="Lato"/>
                </a:rPr>
                <a:t> (A tech SAAS startup) has a problem of 10% loss in sales pipeline conversion rate</a:t>
              </a:r>
              <a:endParaRPr sz="1400" b="0" i="0" u="none" strike="noStrike" cap="none" dirty="0">
                <a:solidFill>
                  <a:srgbClr val="000000"/>
                </a:solidFill>
                <a:latin typeface="Lato"/>
                <a:ea typeface="Lato"/>
                <a:cs typeface="Lato"/>
                <a:sym typeface="Lato"/>
              </a:endParaRPr>
            </a:p>
          </p:txBody>
        </p:sp>
        <p:sp>
          <p:nvSpPr>
            <p:cNvPr id="102" name="Google Shape;102;p14"/>
            <p:cNvSpPr txBox="1"/>
            <p:nvPr/>
          </p:nvSpPr>
          <p:spPr>
            <a:xfrm>
              <a:off x="2830333" y="4726689"/>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What?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Sales Pipeline  conversion has dropped from 35% to 25%.</a:t>
              </a:r>
              <a:endParaRPr dirty="0"/>
            </a:p>
          </p:txBody>
        </p:sp>
        <p:sp>
          <p:nvSpPr>
            <p:cNvPr id="103" name="Google Shape;103;p14"/>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Fiscal Year (2017 – 2018)	</a:t>
              </a:r>
              <a:endParaRPr dirty="0"/>
            </a:p>
          </p:txBody>
        </p:sp>
        <p:sp>
          <p:nvSpPr>
            <p:cNvPr id="104" name="Google Shape;104;p14"/>
            <p:cNvSpPr txBox="1"/>
            <p:nvPr/>
          </p:nvSpPr>
          <p:spPr>
            <a:xfrm>
              <a:off x="9553536" y="4726694"/>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The sales velocity ration is very low and proper attention is not given for marketing. The leads are generated but not converted to business. Which result in loss of 10%.</a:t>
              </a:r>
              <a:endParaRPr dirty="0"/>
            </a:p>
          </p:txBody>
        </p:sp>
        <p:sp>
          <p:nvSpPr>
            <p:cNvPr id="105" name="Google Shape;105;p14"/>
            <p:cNvSpPr txBox="1"/>
            <p:nvPr/>
          </p:nvSpPr>
          <p:spPr>
            <a:xfrm>
              <a:off x="7312469" y="4726691"/>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Where?</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Among the clients in the industry basically from Delhi, Mumbai and </a:t>
              </a:r>
              <a:r>
                <a:rPr lang="en-US" sz="1400" b="0" i="0" u="none" strike="noStrike" cap="none" dirty="0" err="1">
                  <a:solidFill>
                    <a:srgbClr val="000000"/>
                  </a:solidFill>
                  <a:latin typeface="Lato"/>
                  <a:ea typeface="Lato"/>
                  <a:cs typeface="Lato"/>
                  <a:sym typeface="Lato"/>
                </a:rPr>
                <a:t>Banglore</a:t>
              </a:r>
              <a:endParaRPr dirty="0"/>
            </a:p>
          </p:txBody>
        </p:sp>
      </p:grpSp>
      <p:pic>
        <p:nvPicPr>
          <p:cNvPr id="3074" name="Picture 2">
            <a:extLst>
              <a:ext uri="{FF2B5EF4-FFF2-40B4-BE49-F238E27FC236}">
                <a16:creationId xmlns:a16="http://schemas.microsoft.com/office/drawing/2014/main" id="{99A740F0-77A8-2FD7-B0F2-D8B05EB45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47069"/>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 : 2. Understanding the Problem</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12" name="Google Shape;112;p15"/>
          <p:cNvGrpSpPr/>
          <p:nvPr/>
        </p:nvGrpSpPr>
        <p:grpSpPr>
          <a:xfrm>
            <a:off x="619593" y="2008716"/>
            <a:ext cx="10952813" cy="4680022"/>
            <a:chOff x="589265" y="4726688"/>
            <a:chExt cx="8764404" cy="751193"/>
          </a:xfrm>
        </p:grpSpPr>
        <p:sp>
          <p:nvSpPr>
            <p:cNvPr id="113" name="Google Shape;113;p15"/>
            <p:cNvSpPr txBox="1"/>
            <p:nvPr/>
          </p:nvSpPr>
          <p:spPr>
            <a:xfrm>
              <a:off x="589265" y="4726688"/>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Situation</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How many sales are handled by the company during the fiscal year?</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What is the strength of the sales team?</a:t>
              </a: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Which marketing strategy mostly focused by the team?</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How long it take to convert the lead into sales?</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Does regular follow-up taken?</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Which type of </a:t>
              </a:r>
              <a:r>
                <a:rPr lang="en-US" dirty="0">
                  <a:latin typeface="Lato"/>
                  <a:ea typeface="Lato"/>
                  <a:cs typeface="Lato"/>
                  <a:sym typeface="Lato"/>
                </a:rPr>
                <a:t>Co. size placed most orders?</a:t>
              </a:r>
              <a:endParaRPr lang="en-US" sz="1400" b="0" i="0" u="none" strike="noStrike" cap="none" dirty="0">
                <a:solidFill>
                  <a:srgbClr val="000000"/>
                </a:solidFill>
                <a:latin typeface="Lato"/>
                <a:ea typeface="Lato"/>
                <a:cs typeface="Lato"/>
                <a:sym typeface="Lato"/>
              </a:endParaRPr>
            </a:p>
          </p:txBody>
        </p:sp>
        <p:sp>
          <p:nvSpPr>
            <p:cNvPr id="114" name="Google Shape;114;p15"/>
            <p:cNvSpPr txBox="1"/>
            <p:nvPr/>
          </p:nvSpPr>
          <p:spPr>
            <a:xfrm>
              <a:off x="2830333" y="4726689"/>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Problem</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Do you think that team is skilled enough to handle the sales?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Is there optimal distribution of different channels used for marketing among the team?</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Does team have proper communication and understanding within and outside the co. and also among themselves?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Is there coordination among the marketing team and sales team as both are interdependent?</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p:txBody>
        </p:sp>
        <p:sp>
          <p:nvSpPr>
            <p:cNvPr id="115" name="Google Shape;115;p15"/>
            <p:cNvSpPr txBox="1"/>
            <p:nvPr/>
          </p:nvSpPr>
          <p:spPr>
            <a:xfrm>
              <a:off x="5071401" y="4726689"/>
              <a:ext cx="2041200" cy="75119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Implication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How does the problem impact company’s financial situation?</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Does the problem impacts the market share of the company?</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Is there revenue loss,? if so how will it impact your future goals?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Will it increase the number of unsatisfied clients?</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Should it affect the sales of services you provided?</a:t>
              </a:r>
            </a:p>
            <a:p>
              <a:pPr marL="0" marR="0" lvl="0" indent="0" algn="l" rtl="0">
                <a:lnSpc>
                  <a:spcPct val="100000"/>
                </a:lnSpc>
                <a:spcBef>
                  <a:spcPts val="0"/>
                </a:spcBef>
                <a:spcAft>
                  <a:spcPts val="0"/>
                </a:spcAft>
                <a:buNone/>
              </a:pPr>
              <a:endParaRPr lang="en-US" dirty="0">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Should it required to discontinue any of the service provided by you?</a:t>
              </a:r>
            </a:p>
            <a:p>
              <a:pPr marL="0" marR="0" lvl="0" indent="0" algn="l" rtl="0">
                <a:lnSpc>
                  <a:spcPct val="100000"/>
                </a:lnSpc>
                <a:spcBef>
                  <a:spcPts val="0"/>
                </a:spcBef>
                <a:spcAft>
                  <a:spcPts val="0"/>
                </a:spcAft>
                <a:buNone/>
              </a:pPr>
              <a:endParaRPr dirty="0"/>
            </a:p>
          </p:txBody>
        </p:sp>
        <p:sp>
          <p:nvSpPr>
            <p:cNvPr id="116" name="Google Shape;116;p15"/>
            <p:cNvSpPr txBox="1"/>
            <p:nvPr/>
          </p:nvSpPr>
          <p:spPr>
            <a:xfrm>
              <a:off x="7312469" y="4726691"/>
              <a:ext cx="2041200" cy="75119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Need-Payoff</a:t>
              </a:r>
              <a:endParaRPr dirty="0"/>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How does excess revenue helps in financial planning (additional revenue)</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Will it optimize the distribution of resources in the co. (lower cost)</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Will it  increase the efficiency  of the employee?</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Will it generate extra clients to the company?</a:t>
              </a:r>
            </a:p>
            <a:p>
              <a:pPr marL="0" marR="0" lvl="0" indent="0" algn="l" rtl="0">
                <a:lnSpc>
                  <a:spcPct val="100000"/>
                </a:lnSpc>
                <a:spcBef>
                  <a:spcPts val="0"/>
                </a:spcBef>
                <a:spcAft>
                  <a:spcPts val="0"/>
                </a:spcAft>
                <a:buNone/>
              </a:pPr>
              <a:endParaRPr lang="en-US"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Will it </a:t>
              </a:r>
              <a:r>
                <a:rPr lang="en-US" dirty="0">
                  <a:latin typeface="Lato"/>
                  <a:ea typeface="Lato"/>
                  <a:cs typeface="Lato"/>
                  <a:sym typeface="Lato"/>
                </a:rPr>
                <a:t>expand the business of the company in different territory?</a:t>
              </a:r>
              <a:endParaRPr sz="1400" b="0" i="0" u="none" strike="noStrike" cap="none" dirty="0">
                <a:solidFill>
                  <a:srgbClr val="000000"/>
                </a:solidFill>
                <a:latin typeface="Lato"/>
                <a:ea typeface="Lato"/>
                <a:cs typeface="Lato"/>
                <a:sym typeface="Lato"/>
              </a:endParaRPr>
            </a:p>
          </p:txBody>
        </p:sp>
      </p:grpSp>
      <p:pic>
        <p:nvPicPr>
          <p:cNvPr id="4098" name="Picture 2">
            <a:extLst>
              <a:ext uri="{FF2B5EF4-FFF2-40B4-BE49-F238E27FC236}">
                <a16:creationId xmlns:a16="http://schemas.microsoft.com/office/drawing/2014/main" id="{3AA2F4A2-948F-4640-F51C-3C29EC433C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0" y="4707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23" name="Google Shape;123;p16"/>
          <p:cNvSpPr txBox="1"/>
          <p:nvPr/>
        </p:nvSpPr>
        <p:spPr>
          <a:xfrm>
            <a:off x="514664" y="2009522"/>
            <a:ext cx="11162674" cy="4493538"/>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Framework Used</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SPIN framework is used</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Reason for using the selected framework</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Strongly used to success in Smaller as well as large scale enterprises also used more in calls that fails to conver</a:t>
            </a:r>
            <a:r>
              <a:rPr lang="en-US" dirty="0">
                <a:latin typeface="Lato"/>
                <a:ea typeface="Lato"/>
                <a:cs typeface="Lato"/>
                <a:sym typeface="Lato"/>
              </a:rPr>
              <a:t>t the leads.</a:t>
            </a:r>
            <a:endParaRPr lang="en-US"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How you have used the framework here</a:t>
            </a:r>
            <a:endParaRPr dirty="0"/>
          </a:p>
          <a:p>
            <a:pPr marL="0" marR="0" lvl="0" indent="0" algn="l" rtl="0">
              <a:lnSpc>
                <a:spcPct val="100000"/>
              </a:lnSpc>
              <a:spcBef>
                <a:spcPts val="0"/>
              </a:spcBef>
              <a:spcAft>
                <a:spcPts val="0"/>
              </a:spcAft>
              <a:buNone/>
            </a:pPr>
            <a:r>
              <a:rPr lang="en-US" dirty="0">
                <a:latin typeface="Lato"/>
                <a:ea typeface="Lato"/>
                <a:cs typeface="Lato"/>
                <a:sym typeface="Lato"/>
              </a:rPr>
              <a:t>Yes.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5122" name="Picture 2">
            <a:extLst>
              <a:ext uri="{FF2B5EF4-FFF2-40B4-BE49-F238E27FC236}">
                <a16:creationId xmlns:a16="http://schemas.microsoft.com/office/drawing/2014/main" id="{343A968B-FF48-E49A-D51F-E334705C4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0552"/>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30" name="Google Shape;130;p17"/>
          <p:cNvSpPr txBox="1"/>
          <p:nvPr/>
        </p:nvSpPr>
        <p:spPr>
          <a:xfrm>
            <a:off x="514664" y="3719238"/>
            <a:ext cx="11162674" cy="738664"/>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400" b="0" i="0" u="none" strike="noStrike" cap="none">
                <a:solidFill>
                  <a:srgbClr val="000000"/>
                </a:solidFill>
                <a:latin typeface="Lato"/>
                <a:ea typeface="Lato"/>
                <a:cs typeface="Lato"/>
                <a:sym typeface="Lato"/>
              </a:rPr>
              <a:t>Provide the structure of the framework here</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Lato"/>
              <a:ea typeface="Lato"/>
              <a:cs typeface="Lato"/>
              <a:sym typeface="Lato"/>
            </a:endParaRPr>
          </a:p>
          <a:p>
            <a:pPr marL="0" marR="0" lvl="0" indent="0" algn="ctr" rtl="0">
              <a:lnSpc>
                <a:spcPct val="100000"/>
              </a:lnSpc>
              <a:spcBef>
                <a:spcPts val="0"/>
              </a:spcBef>
              <a:spcAft>
                <a:spcPts val="0"/>
              </a:spcAft>
              <a:buNone/>
            </a:pPr>
            <a:r>
              <a:rPr lang="en-US" sz="1400" b="0" i="0" u="none" strike="noStrike" cap="none">
                <a:solidFill>
                  <a:srgbClr val="000000"/>
                </a:solidFill>
                <a:latin typeface="Lato"/>
                <a:ea typeface="Lato"/>
                <a:cs typeface="Lato"/>
                <a:sym typeface="Lato"/>
              </a:rPr>
              <a:t>(You can attach the screenshot or multiple screenshots depending on the clarity of the image)</a:t>
            </a:r>
            <a:endParaRPr/>
          </a:p>
        </p:txBody>
      </p:sp>
      <p:pic>
        <p:nvPicPr>
          <p:cNvPr id="6146" name="Picture 2">
            <a:extLst>
              <a:ext uri="{FF2B5EF4-FFF2-40B4-BE49-F238E27FC236}">
                <a16:creationId xmlns:a16="http://schemas.microsoft.com/office/drawing/2014/main" id="{5CDF4712-1FE9-C21A-63B9-17FAF26A5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0552"/>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B98A1021-F2BE-4548-BB83-69FE3E74546E}"/>
              </a:ext>
            </a:extLst>
          </p:cNvPr>
          <p:cNvPicPr>
            <a:picLocks noChangeAspect="1"/>
          </p:cNvPicPr>
          <p:nvPr/>
        </p:nvPicPr>
        <p:blipFill>
          <a:blip r:embed="rId4"/>
          <a:stretch>
            <a:fillRect/>
          </a:stretch>
        </p:blipFill>
        <p:spPr>
          <a:xfrm>
            <a:off x="514663" y="1665010"/>
            <a:ext cx="5581336" cy="4442984"/>
          </a:xfrm>
          <a:prstGeom prst="rect">
            <a:avLst/>
          </a:prstGeom>
        </p:spPr>
      </p:pic>
      <p:pic>
        <p:nvPicPr>
          <p:cNvPr id="7" name="Picture 6">
            <a:extLst>
              <a:ext uri="{FF2B5EF4-FFF2-40B4-BE49-F238E27FC236}">
                <a16:creationId xmlns:a16="http://schemas.microsoft.com/office/drawing/2014/main" id="{DFE303E6-9166-496B-B876-57B27D976DAD}"/>
              </a:ext>
            </a:extLst>
          </p:cNvPr>
          <p:cNvPicPr>
            <a:picLocks noChangeAspect="1"/>
          </p:cNvPicPr>
          <p:nvPr/>
        </p:nvPicPr>
        <p:blipFill>
          <a:blip r:embed="rId5"/>
          <a:stretch>
            <a:fillRect/>
          </a:stretch>
        </p:blipFill>
        <p:spPr>
          <a:xfrm>
            <a:off x="6096000" y="1690688"/>
            <a:ext cx="5581336" cy="41883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37" name="Google Shape;137;p18"/>
          <p:cNvGrpSpPr/>
          <p:nvPr/>
        </p:nvGrpSpPr>
        <p:grpSpPr>
          <a:xfrm>
            <a:off x="514664" y="2009465"/>
            <a:ext cx="11162675" cy="4593842"/>
            <a:chOff x="589265" y="4632481"/>
            <a:chExt cx="2041200" cy="229238"/>
          </a:xfrm>
        </p:grpSpPr>
        <p:sp>
          <p:nvSpPr>
            <p:cNvPr id="138" name="Google Shape;138;p18"/>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US" sz="1800" b="1" dirty="0">
                  <a:solidFill>
                    <a:schemeClr val="dk1"/>
                  </a:solidFill>
                  <a:latin typeface="Lato"/>
                  <a:ea typeface="Lato"/>
                  <a:cs typeface="Lato"/>
                  <a:sym typeface="Lato"/>
                </a:rPr>
                <a:t>Branch 1</a:t>
              </a:r>
              <a:endParaRPr dirty="0">
                <a:solidFill>
                  <a:schemeClr val="dk1"/>
                </a:solidFill>
              </a:endParaRPr>
            </a:p>
            <a:p>
              <a:pPr marL="0" lvl="0" indent="0" algn="l" rtl="0">
                <a:spcBef>
                  <a:spcPts val="0"/>
                </a:spcBef>
                <a:spcAft>
                  <a:spcPts val="0"/>
                </a:spcAft>
                <a:buClr>
                  <a:schemeClr val="dk1"/>
                </a:buClr>
                <a:buFont typeface="Arial"/>
                <a:buNone/>
              </a:pPr>
              <a:endParaRPr sz="1800" b="1" dirty="0">
                <a:solidFill>
                  <a:schemeClr val="dk1"/>
                </a:solidFill>
                <a:latin typeface="Lato"/>
                <a:ea typeface="Lato"/>
                <a:cs typeface="Lato"/>
                <a:sym typeface="Lato"/>
              </a:endParaRPr>
            </a:p>
            <a:p>
              <a:pPr marL="0" lvl="0" indent="0" algn="l" rtl="0">
                <a:spcBef>
                  <a:spcPts val="0"/>
                </a:spcBef>
                <a:spcAft>
                  <a:spcPts val="0"/>
                </a:spcAft>
                <a:buClr>
                  <a:schemeClr val="dk1"/>
                </a:buClr>
                <a:buFont typeface="Arial"/>
                <a:buNone/>
              </a:pPr>
              <a:r>
                <a:rPr lang="en-US" dirty="0">
                  <a:solidFill>
                    <a:schemeClr val="dk1"/>
                  </a:solidFill>
                  <a:latin typeface="Lato"/>
                  <a:ea typeface="Lato"/>
                  <a:cs typeface="Lato"/>
                  <a:sym typeface="Lato"/>
                </a:rPr>
                <a:t>Branch one is showing Types of services</a:t>
              </a:r>
              <a:endParaRPr sz="1800" b="1" dirty="0">
                <a:latin typeface="Lato"/>
                <a:ea typeface="Lato"/>
                <a:cs typeface="Lato"/>
                <a:sym typeface="Lato"/>
              </a:endParaRPr>
            </a:p>
          </p:txBody>
        </p:sp>
        <p:sp>
          <p:nvSpPr>
            <p:cNvPr id="139" name="Google Shape;139;p18"/>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2</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Branch two showing the name of cities</a:t>
              </a:r>
              <a:endParaRPr sz="1100" b="0" i="0" u="none" strike="noStrike" cap="none" dirty="0">
                <a:solidFill>
                  <a:srgbClr val="000000"/>
                </a:solidFill>
                <a:latin typeface="Lato"/>
                <a:ea typeface="Lato"/>
                <a:cs typeface="Lato"/>
                <a:sym typeface="Lato"/>
              </a:endParaRPr>
            </a:p>
          </p:txBody>
        </p:sp>
      </p:grpSp>
      <p:pic>
        <p:nvPicPr>
          <p:cNvPr id="7170" name="Picture 2">
            <a:extLst>
              <a:ext uri="{FF2B5EF4-FFF2-40B4-BE49-F238E27FC236}">
                <a16:creationId xmlns:a16="http://schemas.microsoft.com/office/drawing/2014/main" id="{FA6ED1F7-A857-8505-6778-ECC23B6FC1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9126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46" name="Google Shape;146;p19"/>
          <p:cNvGrpSpPr/>
          <p:nvPr/>
        </p:nvGrpSpPr>
        <p:grpSpPr>
          <a:xfrm>
            <a:off x="514664" y="2009465"/>
            <a:ext cx="11162675" cy="4593842"/>
            <a:chOff x="589265" y="4632481"/>
            <a:chExt cx="2041200" cy="229238"/>
          </a:xfrm>
        </p:grpSpPr>
        <p:sp>
          <p:nvSpPr>
            <p:cNvPr id="147" name="Google Shape;147;p19"/>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3</a:t>
              </a:r>
              <a:endParaRPr dirty="0"/>
            </a:p>
            <a:p>
              <a:pPr marL="0" marR="0" lvl="0" indent="0" algn="l" rtl="0">
                <a:lnSpc>
                  <a:spcPct val="100000"/>
                </a:lnSpc>
                <a:spcBef>
                  <a:spcPts val="0"/>
                </a:spcBef>
                <a:spcAft>
                  <a:spcPts val="0"/>
                </a:spcAft>
                <a:buNone/>
              </a:pPr>
              <a:endParaRPr lang="en-US"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Name of Technical Services</a:t>
              </a:r>
              <a:endParaRPr lang="en-US" sz="1100" b="0" i="0" u="none" strike="noStrike" cap="none" dirty="0">
                <a:solidFill>
                  <a:srgbClr val="000000"/>
                </a:solidFill>
                <a:latin typeface="Lato"/>
                <a:ea typeface="Lato"/>
                <a:cs typeface="Lato"/>
                <a:sym typeface="Lato"/>
              </a:endParaRPr>
            </a:p>
          </p:txBody>
        </p:sp>
        <p:sp>
          <p:nvSpPr>
            <p:cNvPr id="148" name="Google Shape;148;p19"/>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4</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Name of Cities</a:t>
              </a:r>
              <a:endParaRPr sz="1100" b="0" i="0" u="none" strike="noStrike" cap="none" dirty="0">
                <a:solidFill>
                  <a:srgbClr val="000000"/>
                </a:solidFill>
                <a:latin typeface="Lato"/>
                <a:ea typeface="Lato"/>
                <a:cs typeface="Lato"/>
                <a:sym typeface="Lato"/>
              </a:endParaRPr>
            </a:p>
          </p:txBody>
        </p:sp>
      </p:grpSp>
      <p:pic>
        <p:nvPicPr>
          <p:cNvPr id="8194" name="Picture 2">
            <a:extLst>
              <a:ext uri="{FF2B5EF4-FFF2-40B4-BE49-F238E27FC236}">
                <a16:creationId xmlns:a16="http://schemas.microsoft.com/office/drawing/2014/main" id="{35EA2329-C095-3EB6-21B1-ABAE703CA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5469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 : Formulating Hypotheses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grpSp>
        <p:nvGrpSpPr>
          <p:cNvPr id="155" name="Google Shape;155;p20"/>
          <p:cNvGrpSpPr/>
          <p:nvPr/>
        </p:nvGrpSpPr>
        <p:grpSpPr>
          <a:xfrm>
            <a:off x="514664" y="2009465"/>
            <a:ext cx="11162675" cy="4593842"/>
            <a:chOff x="589265" y="4632481"/>
            <a:chExt cx="2041200" cy="229238"/>
          </a:xfrm>
        </p:grpSpPr>
        <p:sp>
          <p:nvSpPr>
            <p:cNvPr id="156" name="Google Shape;156;p20"/>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5</a:t>
              </a:r>
            </a:p>
            <a:p>
              <a:pPr marL="0" marR="0" lvl="0" indent="0" algn="l" rtl="0">
                <a:lnSpc>
                  <a:spcPct val="100000"/>
                </a:lnSpc>
                <a:spcBef>
                  <a:spcPts val="0"/>
                </a:spcBef>
                <a:spcAft>
                  <a:spcPts val="0"/>
                </a:spcAft>
                <a:buNone/>
              </a:pPr>
              <a:endParaRPr lang="en-US"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the Service Product  “Legacy Modernization”</a:t>
              </a:r>
              <a:endParaRPr lang="en-US" sz="1100" b="0" i="0" u="none" strike="noStrike" cap="none" dirty="0">
                <a:solidFill>
                  <a:srgbClr val="000000"/>
                </a:solidFill>
                <a:latin typeface="Lato"/>
                <a:ea typeface="Lato"/>
                <a:cs typeface="Lato"/>
                <a:sym typeface="Lato"/>
              </a:endParaRPr>
            </a:p>
          </p:txBody>
        </p:sp>
        <p:sp>
          <p:nvSpPr>
            <p:cNvPr id="157" name="Google Shape;157;p20"/>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6</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the Service product  “Technical Business solution”</a:t>
              </a:r>
              <a:endParaRPr sz="1100" b="0" i="0" u="none" strike="noStrike" cap="none" dirty="0">
                <a:solidFill>
                  <a:srgbClr val="000000"/>
                </a:solidFill>
                <a:latin typeface="Lato"/>
                <a:ea typeface="Lato"/>
                <a:cs typeface="Lato"/>
                <a:sym typeface="Lato"/>
              </a:endParaRPr>
            </a:p>
          </p:txBody>
        </p:sp>
      </p:grpSp>
      <p:pic>
        <p:nvPicPr>
          <p:cNvPr id="9218" name="Picture 2">
            <a:extLst>
              <a:ext uri="{FF2B5EF4-FFF2-40B4-BE49-F238E27FC236}">
                <a16:creationId xmlns:a16="http://schemas.microsoft.com/office/drawing/2014/main" id="{F89BEE96-A29C-962D-97A0-A751930F30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7113"/>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 : Formulating Hypotheses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grpSp>
        <p:nvGrpSpPr>
          <p:cNvPr id="164" name="Google Shape;164;p21"/>
          <p:cNvGrpSpPr/>
          <p:nvPr/>
        </p:nvGrpSpPr>
        <p:grpSpPr>
          <a:xfrm>
            <a:off x="514664" y="2009465"/>
            <a:ext cx="11162675" cy="4593842"/>
            <a:chOff x="589265" y="4632481"/>
            <a:chExt cx="2041200" cy="229238"/>
          </a:xfrm>
        </p:grpSpPr>
        <p:sp>
          <p:nvSpPr>
            <p:cNvPr id="165" name="Google Shape;165;p21"/>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7</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service product “Analytics”</a:t>
              </a:r>
              <a:endParaRPr sz="1100" b="0" i="0" u="none" strike="noStrike" cap="none" dirty="0">
                <a:solidFill>
                  <a:srgbClr val="000000"/>
                </a:solidFill>
                <a:latin typeface="Lato"/>
                <a:ea typeface="Lato"/>
                <a:cs typeface="Lato"/>
                <a:sym typeface="Lato"/>
              </a:endParaRPr>
            </a:p>
          </p:txBody>
        </p:sp>
        <p:sp>
          <p:nvSpPr>
            <p:cNvPr id="166" name="Google Shape;166;p21"/>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8</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service product “ERP </a:t>
              </a:r>
              <a:r>
                <a:rPr lang="en-US" dirty="0">
                  <a:latin typeface="Lato"/>
                  <a:ea typeface="Lato"/>
                  <a:cs typeface="Lato"/>
                  <a:sym typeface="Lato"/>
                </a:rPr>
                <a:t>Implementation”</a:t>
              </a:r>
              <a:endParaRPr sz="1100" b="0" i="0" u="none" strike="noStrike" cap="none" dirty="0">
                <a:solidFill>
                  <a:srgbClr val="000000"/>
                </a:solidFill>
                <a:latin typeface="Lato"/>
                <a:ea typeface="Lato"/>
                <a:cs typeface="Lato"/>
                <a:sym typeface="Lato"/>
              </a:endParaRPr>
            </a:p>
          </p:txBody>
        </p:sp>
      </p:grpSp>
      <p:pic>
        <p:nvPicPr>
          <p:cNvPr id="10242" name="Picture 2">
            <a:extLst>
              <a:ext uri="{FF2B5EF4-FFF2-40B4-BE49-F238E27FC236}">
                <a16:creationId xmlns:a16="http://schemas.microsoft.com/office/drawing/2014/main" id="{680BC2A1-2D92-559D-C29D-A3D84CB48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6040"/>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 : Formulating Hypotheses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grpSp>
        <p:nvGrpSpPr>
          <p:cNvPr id="173" name="Google Shape;173;p22"/>
          <p:cNvGrpSpPr/>
          <p:nvPr/>
        </p:nvGrpSpPr>
        <p:grpSpPr>
          <a:xfrm>
            <a:off x="514664" y="2009465"/>
            <a:ext cx="11162675" cy="4593842"/>
            <a:chOff x="589265" y="4632481"/>
            <a:chExt cx="2041200" cy="229238"/>
          </a:xfrm>
        </p:grpSpPr>
        <p:sp>
          <p:nvSpPr>
            <p:cNvPr id="174" name="Google Shape;174;p22"/>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9</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Location “Chennai” 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sp>
          <p:nvSpPr>
            <p:cNvPr id="175" name="Google Shape;175;p22"/>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10</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Showing Location “Bangalore” </a:t>
              </a:r>
              <a:r>
                <a:rPr lang="en-US" b="0" i="0" u="none" strike="noStrike" cap="none" dirty="0">
                  <a:solidFill>
                    <a:srgbClr val="000000"/>
                  </a:solidFill>
                  <a:latin typeface="Lato"/>
                  <a:ea typeface="Lato"/>
                  <a:cs typeface="Lato"/>
                  <a:sym typeface="Lato"/>
                </a:rPr>
                <a:t>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grpSp>
      <p:pic>
        <p:nvPicPr>
          <p:cNvPr id="11266" name="Picture 2">
            <a:extLst>
              <a:ext uri="{FF2B5EF4-FFF2-40B4-BE49-F238E27FC236}">
                <a16:creationId xmlns:a16="http://schemas.microsoft.com/office/drawing/2014/main" id="{928997EA-048D-3C7E-C58E-CC17D7F4F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46348"/>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CB6B4A-A00A-419D-96C1-9CA4065FEF92}"/>
              </a:ext>
            </a:extLst>
          </p:cNvPr>
          <p:cNvSpPr/>
          <p:nvPr/>
        </p:nvSpPr>
        <p:spPr>
          <a:xfrm>
            <a:off x="1256872" y="120722"/>
            <a:ext cx="10003604" cy="17594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0" lang="en-US" sz="3500" b="1" i="0" u="none" strike="noStrike" kern="0" cap="none" spc="0" normalizeH="0" baseline="0" noProof="0" dirty="0">
                <a:ln>
                  <a:noFill/>
                </a:ln>
                <a:solidFill>
                  <a:srgbClr val="EF413D"/>
                </a:solidFill>
                <a:effectLst/>
                <a:uLnTx/>
                <a:uFillTx/>
                <a:latin typeface="Lato"/>
                <a:ea typeface="Lato"/>
                <a:cs typeface="Lato"/>
                <a:sym typeface="Lato"/>
              </a:rPr>
              <a:t>PART II : Formulating Hypotheses</a:t>
            </a:r>
            <a:br>
              <a:rPr kumimoji="0" lang="en-US" sz="3500" b="1" i="0" u="none" strike="noStrike" kern="0" cap="none" spc="0" normalizeH="0" baseline="0" noProof="0" dirty="0">
                <a:ln>
                  <a:noFill/>
                </a:ln>
                <a:solidFill>
                  <a:srgbClr val="EF413D"/>
                </a:solidFill>
                <a:effectLst/>
                <a:uLnTx/>
                <a:uFillTx/>
                <a:latin typeface="Lato"/>
                <a:ea typeface="Lato"/>
                <a:cs typeface="Lato"/>
                <a:sym typeface="Lato"/>
              </a:rPr>
            </a:br>
            <a:r>
              <a:rPr kumimoji="0" lang="en-US" sz="1000" b="1" i="0" u="none" strike="noStrike" kern="0" cap="none" spc="0" normalizeH="0" baseline="0" noProof="0" dirty="0">
                <a:ln>
                  <a:noFill/>
                </a:ln>
                <a:solidFill>
                  <a:srgbClr val="EF413D"/>
                </a:solidFill>
                <a:effectLst/>
                <a:uLnTx/>
                <a:uFillTx/>
                <a:latin typeface="Lato"/>
                <a:ea typeface="Lato"/>
                <a:cs typeface="Lato"/>
                <a:sym typeface="Lato"/>
              </a:rPr>
              <a:t> </a:t>
            </a:r>
            <a:br>
              <a:rPr kumimoji="0" lang="en-US" sz="4400" b="1" i="0" u="none" strike="noStrike" kern="0" cap="none" spc="0" normalizeH="0" baseline="0" noProof="0" dirty="0">
                <a:ln>
                  <a:noFill/>
                </a:ln>
                <a:solidFill>
                  <a:srgbClr val="000000"/>
                </a:solidFill>
                <a:effectLst/>
                <a:uLnTx/>
                <a:uFillTx/>
                <a:latin typeface="Lato"/>
                <a:ea typeface="Lato"/>
                <a:cs typeface="Lato"/>
                <a:sym typeface="Lato"/>
              </a:rPr>
            </a:br>
            <a:r>
              <a:rPr kumimoji="0" lang="en-US" sz="3000" b="0" i="0" u="none" strike="noStrike" kern="0" cap="none" spc="0" normalizeH="0" baseline="0" noProof="0" dirty="0">
                <a:ln>
                  <a:noFill/>
                </a:ln>
                <a:solidFill>
                  <a:srgbClr val="5A5A5A"/>
                </a:solidFill>
                <a:effectLst/>
                <a:uLnTx/>
                <a:uFillTx/>
                <a:latin typeface="Lato"/>
                <a:ea typeface="Lato"/>
                <a:cs typeface="Lato"/>
                <a:sym typeface="Lato"/>
              </a:rPr>
              <a:t>Sales Pipeline Conversion at a SaaS Startup</a:t>
            </a:r>
            <a:endParaRPr lang="en-US" dirty="0"/>
          </a:p>
        </p:txBody>
      </p:sp>
      <p:grpSp>
        <p:nvGrpSpPr>
          <p:cNvPr id="3" name="Google Shape;173;p22">
            <a:extLst>
              <a:ext uri="{FF2B5EF4-FFF2-40B4-BE49-F238E27FC236}">
                <a16:creationId xmlns:a16="http://schemas.microsoft.com/office/drawing/2014/main" id="{CA0AB229-1A4E-454F-9C01-D43B9E9B5DC2}"/>
              </a:ext>
            </a:extLst>
          </p:cNvPr>
          <p:cNvGrpSpPr/>
          <p:nvPr/>
        </p:nvGrpSpPr>
        <p:grpSpPr>
          <a:xfrm>
            <a:off x="514664" y="2009465"/>
            <a:ext cx="11162675" cy="4593842"/>
            <a:chOff x="589265" y="4632481"/>
            <a:chExt cx="2041200" cy="229238"/>
          </a:xfrm>
        </p:grpSpPr>
        <p:sp>
          <p:nvSpPr>
            <p:cNvPr id="4" name="Google Shape;174;p22">
              <a:extLst>
                <a:ext uri="{FF2B5EF4-FFF2-40B4-BE49-F238E27FC236}">
                  <a16:creationId xmlns:a16="http://schemas.microsoft.com/office/drawing/2014/main" id="{AD821EC6-68FC-42B4-91C5-E34301B64314}"/>
                </a:ext>
              </a:extLst>
            </p:cNvPr>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11</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Location “Mumbai” </a:t>
              </a:r>
              <a:r>
                <a:rPr lang="en-US" sz="1100" b="0" i="0" u="none" strike="noStrike" cap="none" dirty="0">
                  <a:solidFill>
                    <a:srgbClr val="000000"/>
                  </a:solidFill>
                  <a:latin typeface="Lato"/>
                  <a:ea typeface="Lato"/>
                  <a:cs typeface="Lato"/>
                  <a:sym typeface="Lato"/>
                </a:rPr>
                <a:t>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sp>
          <p:nvSpPr>
            <p:cNvPr id="5" name="Google Shape;175;p22">
              <a:extLst>
                <a:ext uri="{FF2B5EF4-FFF2-40B4-BE49-F238E27FC236}">
                  <a16:creationId xmlns:a16="http://schemas.microsoft.com/office/drawing/2014/main" id="{B6CB9003-E7C5-450E-AF1E-966A77E23876}"/>
                </a:ext>
              </a:extLst>
            </p:cNvPr>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12</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Showing Location “Pune” </a:t>
              </a:r>
              <a:r>
                <a:rPr lang="en-US" sz="1100" b="0" i="0" u="none" strike="noStrike" cap="none" dirty="0">
                  <a:solidFill>
                    <a:srgbClr val="000000"/>
                  </a:solidFill>
                  <a:latin typeface="Lato"/>
                  <a:ea typeface="Lato"/>
                  <a:cs typeface="Lato"/>
                  <a:sym typeface="Lato"/>
                </a:rPr>
                <a:t>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grpSp>
    </p:spTree>
    <p:extLst>
      <p:ext uri="{BB962C8B-B14F-4D97-AF65-F5344CB8AC3E}">
        <p14:creationId xmlns:p14="http://schemas.microsoft.com/office/powerpoint/2010/main" val="77657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A9A082-1517-49E5-B7ED-3667540269D8}"/>
              </a:ext>
            </a:extLst>
          </p:cNvPr>
          <p:cNvSpPr/>
          <p:nvPr/>
        </p:nvSpPr>
        <p:spPr>
          <a:xfrm>
            <a:off x="1256872" y="120722"/>
            <a:ext cx="10003604" cy="175945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0" lang="en-US" sz="3500" b="1" i="0" u="none" strike="noStrike" kern="0" cap="none" spc="0" normalizeH="0" baseline="0" noProof="0" dirty="0">
                <a:ln>
                  <a:noFill/>
                </a:ln>
                <a:solidFill>
                  <a:srgbClr val="EF413D"/>
                </a:solidFill>
                <a:effectLst/>
                <a:uLnTx/>
                <a:uFillTx/>
                <a:latin typeface="Lato"/>
                <a:ea typeface="Lato"/>
                <a:cs typeface="Lato"/>
                <a:sym typeface="Lato"/>
              </a:rPr>
              <a:t>PART II : Formulating Hypotheses</a:t>
            </a:r>
            <a:br>
              <a:rPr kumimoji="0" lang="en-US" sz="3500" b="1" i="0" u="none" strike="noStrike" kern="0" cap="none" spc="0" normalizeH="0" baseline="0" noProof="0" dirty="0">
                <a:ln>
                  <a:noFill/>
                </a:ln>
                <a:solidFill>
                  <a:srgbClr val="EF413D"/>
                </a:solidFill>
                <a:effectLst/>
                <a:uLnTx/>
                <a:uFillTx/>
                <a:latin typeface="Lato"/>
                <a:ea typeface="Lato"/>
                <a:cs typeface="Lato"/>
                <a:sym typeface="Lato"/>
              </a:rPr>
            </a:br>
            <a:r>
              <a:rPr kumimoji="0" lang="en-US" sz="1000" b="1" i="0" u="none" strike="noStrike" kern="0" cap="none" spc="0" normalizeH="0" baseline="0" noProof="0" dirty="0">
                <a:ln>
                  <a:noFill/>
                </a:ln>
                <a:solidFill>
                  <a:srgbClr val="EF413D"/>
                </a:solidFill>
                <a:effectLst/>
                <a:uLnTx/>
                <a:uFillTx/>
                <a:latin typeface="Lato"/>
                <a:ea typeface="Lato"/>
                <a:cs typeface="Lato"/>
                <a:sym typeface="Lato"/>
              </a:rPr>
              <a:t> </a:t>
            </a:r>
            <a:br>
              <a:rPr kumimoji="0" lang="en-US" sz="4400" b="1" i="0" u="none" strike="noStrike" kern="0" cap="none" spc="0" normalizeH="0" baseline="0" noProof="0" dirty="0">
                <a:ln>
                  <a:noFill/>
                </a:ln>
                <a:solidFill>
                  <a:srgbClr val="000000"/>
                </a:solidFill>
                <a:effectLst/>
                <a:uLnTx/>
                <a:uFillTx/>
                <a:latin typeface="Lato"/>
                <a:ea typeface="Lato"/>
                <a:cs typeface="Lato"/>
                <a:sym typeface="Lato"/>
              </a:rPr>
            </a:br>
            <a:r>
              <a:rPr kumimoji="0" lang="en-US" sz="3000" b="0" i="0" u="none" strike="noStrike" kern="0" cap="none" spc="0" normalizeH="0" baseline="0" noProof="0" dirty="0">
                <a:ln>
                  <a:noFill/>
                </a:ln>
                <a:solidFill>
                  <a:srgbClr val="5A5A5A"/>
                </a:solidFill>
                <a:effectLst/>
                <a:uLnTx/>
                <a:uFillTx/>
                <a:latin typeface="Lato"/>
                <a:ea typeface="Lato"/>
                <a:cs typeface="Lato"/>
                <a:sym typeface="Lato"/>
              </a:rPr>
              <a:t>Sales Pipeline Conversion at a SaaS Startup</a:t>
            </a:r>
            <a:endParaRPr lang="en-US" dirty="0"/>
          </a:p>
        </p:txBody>
      </p:sp>
      <p:grpSp>
        <p:nvGrpSpPr>
          <p:cNvPr id="3" name="Google Shape;173;p22">
            <a:extLst>
              <a:ext uri="{FF2B5EF4-FFF2-40B4-BE49-F238E27FC236}">
                <a16:creationId xmlns:a16="http://schemas.microsoft.com/office/drawing/2014/main" id="{F3C0FCF8-3128-4A96-90A6-A9879B6ADD23}"/>
              </a:ext>
            </a:extLst>
          </p:cNvPr>
          <p:cNvGrpSpPr/>
          <p:nvPr/>
        </p:nvGrpSpPr>
        <p:grpSpPr>
          <a:xfrm>
            <a:off x="514664" y="2009465"/>
            <a:ext cx="11162675" cy="4593842"/>
            <a:chOff x="589265" y="4632481"/>
            <a:chExt cx="2041200" cy="229238"/>
          </a:xfrm>
        </p:grpSpPr>
        <p:sp>
          <p:nvSpPr>
            <p:cNvPr id="4" name="Google Shape;174;p22">
              <a:extLst>
                <a:ext uri="{FF2B5EF4-FFF2-40B4-BE49-F238E27FC236}">
                  <a16:creationId xmlns:a16="http://schemas.microsoft.com/office/drawing/2014/main" id="{E10D811E-5518-4416-A8A4-5796B432CCC8}"/>
                </a:ext>
              </a:extLst>
            </p:cNvPr>
            <p:cNvSpPr txBox="1"/>
            <p:nvPr/>
          </p:nvSpPr>
          <p:spPr>
            <a:xfrm>
              <a:off x="589265" y="4632481"/>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13</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Showing Location “Delhi” </a:t>
              </a:r>
              <a:r>
                <a:rPr lang="en-US" b="0" i="0" u="none" strike="noStrike" cap="none" dirty="0">
                  <a:solidFill>
                    <a:srgbClr val="000000"/>
                  </a:solidFill>
                  <a:latin typeface="Lato"/>
                  <a:ea typeface="Lato"/>
                  <a:cs typeface="Lato"/>
                  <a:sym typeface="Lato"/>
                </a:rPr>
                <a:t>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sp>
          <p:nvSpPr>
            <p:cNvPr id="5" name="Google Shape;175;p22">
              <a:extLst>
                <a:ext uri="{FF2B5EF4-FFF2-40B4-BE49-F238E27FC236}">
                  <a16:creationId xmlns:a16="http://schemas.microsoft.com/office/drawing/2014/main" id="{CA437715-B671-43E2-8FB6-F2451C77BE1E}"/>
                </a:ext>
              </a:extLst>
            </p:cNvPr>
            <p:cNvSpPr txBox="1"/>
            <p:nvPr/>
          </p:nvSpPr>
          <p:spPr>
            <a:xfrm>
              <a:off x="589265" y="4753933"/>
              <a:ext cx="2041200" cy="107786"/>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Branch 14</a:t>
              </a:r>
              <a:endParaRPr dirty="0"/>
            </a:p>
            <a:p>
              <a:pPr marL="0" marR="0" lvl="0" indent="0" algn="l" rtl="0">
                <a:lnSpc>
                  <a:spcPct val="100000"/>
                </a:lnSpc>
                <a:spcBef>
                  <a:spcPts val="0"/>
                </a:spcBef>
                <a:spcAft>
                  <a:spcPts val="0"/>
                </a:spcAft>
                <a:buNone/>
              </a:pPr>
              <a:endParaRPr sz="18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Showing Location “Kolkata” </a:t>
              </a:r>
              <a:r>
                <a:rPr lang="en-US" b="0" i="0" u="none" strike="noStrike" cap="none" dirty="0">
                  <a:solidFill>
                    <a:srgbClr val="000000"/>
                  </a:solidFill>
                  <a:latin typeface="Lato"/>
                  <a:ea typeface="Lato"/>
                  <a:cs typeface="Lato"/>
                  <a:sym typeface="Lato"/>
                </a:rPr>
                <a:t>which is further splits into last year clients business which again splits into Total opportunity and after that it shows the opportunity won and loss</a:t>
              </a:r>
              <a:endParaRPr sz="1100" b="0" i="0" u="none" strike="noStrike" cap="none" dirty="0">
                <a:solidFill>
                  <a:srgbClr val="000000"/>
                </a:solidFill>
                <a:latin typeface="Lato"/>
                <a:ea typeface="Lato"/>
                <a:cs typeface="Lato"/>
                <a:sym typeface="Lato"/>
              </a:endParaRPr>
            </a:p>
          </p:txBody>
        </p:sp>
      </p:grpSp>
    </p:spTree>
    <p:extLst>
      <p:ext uri="{BB962C8B-B14F-4D97-AF65-F5344CB8AC3E}">
        <p14:creationId xmlns:p14="http://schemas.microsoft.com/office/powerpoint/2010/main" val="2870611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82" name="Google Shape;182;p23"/>
          <p:cNvSpPr txBox="1"/>
          <p:nvPr/>
        </p:nvSpPr>
        <p:spPr>
          <a:xfrm>
            <a:off x="563498" y="1806833"/>
            <a:ext cx="2404555"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The different types of variable which I used is types of service provided, B2B Sales medium, city wise business distribution, last year business from clients, opportunity status(Win or Loss).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3" name="Google Shape;183;p23"/>
          <p:cNvSpPr txBox="1"/>
          <p:nvPr/>
        </p:nvSpPr>
        <p:spPr>
          <a:xfrm>
            <a:off x="3287056" y="1806833"/>
            <a:ext cx="5542151" cy="4462760"/>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Insights if any</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By using this variables I found that the more call we made to the customer the more chances are there of converting the leads to sales. The area which we basically focus on is “sales stage iteration” and “sales velocity” and that to with the “Marketing” branch, the frequent it is the more chances of converting the leads into cell. I also found out that we are  getting more business from cities like “Pune” and “Mumbai” and “Delhi” which shows that there is less competition in that area as they are not IT hubs compare to “Bangalore” and “Chennai” wher</a:t>
            </a:r>
            <a:r>
              <a:rPr lang="en-US" dirty="0">
                <a:latin typeface="Lato"/>
                <a:ea typeface="Lato"/>
                <a:cs typeface="Lato"/>
                <a:sym typeface="Lato"/>
              </a:rPr>
              <a:t>e business is steep.</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sp>
        <p:nvSpPr>
          <p:cNvPr id="184" name="Google Shape;184;p23"/>
          <p:cNvSpPr txBox="1"/>
          <p:nvPr/>
        </p:nvSpPr>
        <p:spPr>
          <a:xfrm>
            <a:off x="9148210" y="1806833"/>
            <a:ext cx="2794416" cy="4462760"/>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Pattern of Insight</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The pattern which I found is that we should focus on large enterprises having clients revenue between more than 1M after that between 100K to 500K along with the employee base. In shorth the more the clients revenue and its employee size the more chances to convert the lead into productive sales.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2290" name="Picture 2">
            <a:extLst>
              <a:ext uri="{FF2B5EF4-FFF2-40B4-BE49-F238E27FC236}">
                <a16:creationId xmlns:a16="http://schemas.microsoft.com/office/drawing/2014/main" id="{29A453A5-9E4B-B0D7-2E35-D7F07AA5A4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49406"/>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1" name="Google Shape;191;p24"/>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dirty="0">
                <a:latin typeface="Lato"/>
                <a:ea typeface="Lato"/>
                <a:cs typeface="Lato"/>
                <a:sym typeface="Lato"/>
              </a:rPr>
              <a:t>We should consider the variables such as opportunity status, opportunity sizing, clients revenue, employee size and B2B business solution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3314" name="Picture 2">
            <a:extLst>
              <a:ext uri="{FF2B5EF4-FFF2-40B4-BE49-F238E27FC236}">
                <a16:creationId xmlns:a16="http://schemas.microsoft.com/office/drawing/2014/main" id="{7F3A8E89-B053-3C3B-6E31-2F97A66CAC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92844"/>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198" name="Google Shape;198;p25"/>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By using the variable Business from </a:t>
            </a:r>
            <a:r>
              <a:rPr lang="en-US" dirty="0">
                <a:latin typeface="Lato"/>
                <a:ea typeface="Lato"/>
                <a:cs typeface="Lato"/>
                <a:sym typeface="Lato"/>
              </a:rPr>
              <a:t>clients last year I figure out that there is no business from the clients whose revenue is less and employee size is also low.</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4338" name="Picture 2">
            <a:extLst>
              <a:ext uri="{FF2B5EF4-FFF2-40B4-BE49-F238E27FC236}">
                <a16:creationId xmlns:a16="http://schemas.microsoft.com/office/drawing/2014/main" id="{F785A75E-0215-3429-9B75-22D028B473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0" y="92845"/>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C57C9ED-A943-4AD6-AD65-C6BAA7BB6970}"/>
              </a:ext>
            </a:extLst>
          </p:cNvPr>
          <p:cNvPicPr>
            <a:picLocks noChangeAspect="1"/>
          </p:cNvPicPr>
          <p:nvPr/>
        </p:nvPicPr>
        <p:blipFill>
          <a:blip r:embed="rId4"/>
          <a:stretch>
            <a:fillRect/>
          </a:stretch>
        </p:blipFill>
        <p:spPr>
          <a:xfrm>
            <a:off x="3885898" y="2739552"/>
            <a:ext cx="4584589" cy="275563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05" name="Google Shape;205;p26"/>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Count of Business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5362" name="Picture 2">
            <a:extLst>
              <a:ext uri="{FF2B5EF4-FFF2-40B4-BE49-F238E27FC236}">
                <a16:creationId xmlns:a16="http://schemas.microsoft.com/office/drawing/2014/main" id="{BB860DAB-E166-8724-3A14-EFE41CD74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AECEC59-6A2D-421D-885E-ECC05BA1721F}"/>
              </a:ext>
            </a:extLst>
          </p:cNvPr>
          <p:cNvPicPr>
            <a:picLocks noChangeAspect="1"/>
          </p:cNvPicPr>
          <p:nvPr/>
        </p:nvPicPr>
        <p:blipFill>
          <a:blip r:embed="rId4"/>
          <a:stretch>
            <a:fillRect/>
          </a:stretch>
        </p:blipFill>
        <p:spPr>
          <a:xfrm>
            <a:off x="3947543" y="2770375"/>
            <a:ext cx="4584589" cy="275563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2" name="Google Shape;212;p27"/>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City wise sales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6386" name="Picture 2">
            <a:extLst>
              <a:ext uri="{FF2B5EF4-FFF2-40B4-BE49-F238E27FC236}">
                <a16:creationId xmlns:a16="http://schemas.microsoft.com/office/drawing/2014/main" id="{93C4F7DA-E0CD-10F1-2909-289B7A129B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7F68F5A7-64BD-4591-97FE-6F2015A962C0}"/>
              </a:ext>
            </a:extLst>
          </p:cNvPr>
          <p:cNvPicPr>
            <a:picLocks noChangeAspect="1"/>
          </p:cNvPicPr>
          <p:nvPr/>
        </p:nvPicPr>
        <p:blipFill>
          <a:blip r:embed="rId4"/>
          <a:stretch>
            <a:fillRect/>
          </a:stretch>
        </p:blipFill>
        <p:spPr>
          <a:xfrm>
            <a:off x="3803705" y="2852901"/>
            <a:ext cx="4584589" cy="275563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19" name="Google Shape;219;p28"/>
          <p:cNvSpPr txBox="1"/>
          <p:nvPr/>
        </p:nvSpPr>
        <p:spPr>
          <a:xfrm>
            <a:off x="409732" y="1783894"/>
            <a:ext cx="11162674" cy="4893647"/>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Variable under  consideration:</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Client Revenue Sizing</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p:txBody>
      </p:sp>
      <p:pic>
        <p:nvPicPr>
          <p:cNvPr id="17410" name="Picture 2">
            <a:extLst>
              <a:ext uri="{FF2B5EF4-FFF2-40B4-BE49-F238E27FC236}">
                <a16:creationId xmlns:a16="http://schemas.microsoft.com/office/drawing/2014/main" id="{4BF6E944-28CF-BD47-A0A3-381D593C3B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80459"/>
            <a:ext cx="1524000" cy="7334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2937BD32-8A36-484F-A953-25AA6A4BAD03}"/>
              </a:ext>
            </a:extLst>
          </p:cNvPr>
          <p:cNvPicPr>
            <a:picLocks noChangeAspect="1"/>
          </p:cNvPicPr>
          <p:nvPr/>
        </p:nvPicPr>
        <p:blipFill>
          <a:blip r:embed="rId4"/>
          <a:stretch>
            <a:fillRect/>
          </a:stretch>
        </p:blipFill>
        <p:spPr>
          <a:xfrm>
            <a:off x="4358510" y="2852901"/>
            <a:ext cx="4584589" cy="275563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A : Generating Insights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sp>
        <p:nvSpPr>
          <p:cNvPr id="226" name="Google Shape;226;p29"/>
          <p:cNvSpPr txBox="1"/>
          <p:nvPr/>
        </p:nvSpPr>
        <p:spPr>
          <a:xfrm>
            <a:off x="317188" y="1798905"/>
            <a:ext cx="4037836" cy="4555093"/>
          </a:xfrm>
          <a:prstGeom prst="rect">
            <a:avLst/>
          </a:prstGeom>
          <a:noFill/>
          <a:ln w="9525" cap="flat" cmpd="sng">
            <a:solidFill>
              <a:srgbClr val="F6949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Recommendations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Lato"/>
                <a:ea typeface="Lato"/>
                <a:cs typeface="Lato"/>
                <a:sym typeface="Lato"/>
              </a:rPr>
              <a:t>B2B Sales</a:t>
            </a:r>
          </a:p>
          <a:p>
            <a:pPr marL="0" marR="0" lvl="0" indent="0" algn="l" rtl="0">
              <a:lnSpc>
                <a:spcPct val="100000"/>
              </a:lnSpc>
              <a:spcBef>
                <a:spcPts val="0"/>
              </a:spcBef>
              <a:spcAft>
                <a:spcPts val="0"/>
              </a:spcAft>
              <a:buNone/>
            </a:pPr>
            <a:r>
              <a:rPr lang="en-US" dirty="0">
                <a:latin typeface="Lato"/>
                <a:ea typeface="Lato"/>
                <a:cs typeface="Lato"/>
                <a:sym typeface="Lato"/>
              </a:rPr>
              <a:t>Opportunity status</a:t>
            </a: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000" b="1"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000" b="1" i="0" u="none" strike="noStrike" cap="none" dirty="0">
              <a:solidFill>
                <a:srgbClr val="000000"/>
              </a:solidFill>
              <a:latin typeface="Lato"/>
              <a:ea typeface="Lato"/>
              <a:cs typeface="Lato"/>
              <a:sym typeface="Lato"/>
            </a:endParaRPr>
          </a:p>
        </p:txBody>
      </p:sp>
      <p:sp>
        <p:nvSpPr>
          <p:cNvPr id="227" name="Google Shape;227;p29"/>
          <p:cNvSpPr txBox="1"/>
          <p:nvPr/>
        </p:nvSpPr>
        <p:spPr>
          <a:xfrm>
            <a:off x="4494508" y="1800542"/>
            <a:ext cx="7206712" cy="4555093"/>
          </a:xfrm>
          <a:prstGeom prst="rect">
            <a:avLst/>
          </a:prstGeom>
          <a:noFill/>
          <a:ln w="9525" cap="flat" cmpd="sng">
            <a:solidFill>
              <a:srgbClr val="BFBFB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dirty="0">
                <a:solidFill>
                  <a:srgbClr val="000000"/>
                </a:solidFill>
                <a:latin typeface="Lato"/>
                <a:ea typeface="Lato"/>
                <a:cs typeface="Lato"/>
                <a:sym typeface="Lato"/>
              </a:rPr>
              <a:t>Corresponding Insights</a:t>
            </a:r>
            <a:endParaRPr dirty="0"/>
          </a:p>
          <a:p>
            <a:pPr marL="0" marR="0" lvl="0" indent="0" algn="l" rtl="0">
              <a:lnSpc>
                <a:spcPct val="100000"/>
              </a:lnSpc>
              <a:spcBef>
                <a:spcPts val="0"/>
              </a:spcBef>
              <a:spcAft>
                <a:spcPts val="0"/>
              </a:spcAft>
              <a:buNone/>
            </a:pPr>
            <a:r>
              <a:rPr lang="en-US" dirty="0"/>
              <a:t>B2B sales helps us to understand which channel is more productive in achieving our target and opportunity status shows us what should be done to won more clients.</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a:p>
            <a:pPr marL="0" marR="0" lvl="0" indent="0" algn="l" rtl="0">
              <a:lnSpc>
                <a:spcPct val="100000"/>
              </a:lnSpc>
              <a:spcBef>
                <a:spcPts val="0"/>
              </a:spcBef>
              <a:spcAft>
                <a:spcPts val="0"/>
              </a:spcAft>
              <a:buNone/>
            </a:pPr>
            <a:endParaRPr sz="1600" b="0" i="0" u="none" strike="noStrike" cap="none" dirty="0">
              <a:solidFill>
                <a:srgbClr val="000000"/>
              </a:solidFill>
              <a:latin typeface="Lato"/>
              <a:ea typeface="Lato"/>
              <a:cs typeface="Lato"/>
              <a:sym typeface="Lato"/>
            </a:endParaRPr>
          </a:p>
        </p:txBody>
      </p:sp>
      <p:pic>
        <p:nvPicPr>
          <p:cNvPr id="18434" name="Picture 2">
            <a:extLst>
              <a:ext uri="{FF2B5EF4-FFF2-40B4-BE49-F238E27FC236}">
                <a16:creationId xmlns:a16="http://schemas.microsoft.com/office/drawing/2014/main" id="{3D40C618-BA10-CD34-D260-4DF5FE73C9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135652"/>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0"/>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dirty="0">
                <a:solidFill>
                  <a:srgbClr val="EF413D"/>
                </a:solidFill>
              </a:rPr>
              <a:t>PART III B : Presenting Findings</a:t>
            </a:r>
            <a:br>
              <a:rPr lang="en-US" sz="3500" b="1" dirty="0">
                <a:solidFill>
                  <a:srgbClr val="EF413D"/>
                </a:solidFill>
              </a:rPr>
            </a:br>
            <a:r>
              <a:rPr lang="en-US" sz="1000" b="1" dirty="0">
                <a:solidFill>
                  <a:srgbClr val="EF413D"/>
                </a:solidFill>
              </a:rPr>
              <a:t> </a:t>
            </a:r>
            <a:br>
              <a:rPr lang="en-US" b="1" dirty="0"/>
            </a:br>
            <a:r>
              <a:rPr lang="en-US" sz="3000" dirty="0">
                <a:solidFill>
                  <a:srgbClr val="5A5A5A"/>
                </a:solidFill>
              </a:rPr>
              <a:t>Sales Pipeline Conversion at a SaaS Startup</a:t>
            </a:r>
            <a:endParaRPr sz="3000" dirty="0"/>
          </a:p>
        </p:txBody>
      </p:sp>
      <p:pic>
        <p:nvPicPr>
          <p:cNvPr id="19458" name="Picture 2">
            <a:extLst>
              <a:ext uri="{FF2B5EF4-FFF2-40B4-BE49-F238E27FC236}">
                <a16:creationId xmlns:a16="http://schemas.microsoft.com/office/drawing/2014/main" id="{EF515ECB-84C5-725D-6FBE-1DB7083802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1"/>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B : Presenting Findings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pic>
        <p:nvPicPr>
          <p:cNvPr id="20482" name="Picture 2">
            <a:extLst>
              <a:ext uri="{FF2B5EF4-FFF2-40B4-BE49-F238E27FC236}">
                <a16:creationId xmlns:a16="http://schemas.microsoft.com/office/drawing/2014/main" id="{5303A3C7-A05D-B132-48D4-069BA568F7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1800"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2"/>
          <p:cNvSpPr txBox="1">
            <a:spLocks noGrp="1"/>
          </p:cNvSpPr>
          <p:nvPr>
            <p:ph type="title"/>
          </p:nvPr>
        </p:nvSpPr>
        <p:spPr>
          <a:xfrm>
            <a:off x="838200" y="305165"/>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400"/>
              <a:buNone/>
            </a:pPr>
            <a:r>
              <a:rPr lang="en-US" sz="3500" b="1">
                <a:solidFill>
                  <a:srgbClr val="EF413D"/>
                </a:solidFill>
              </a:rPr>
              <a:t>PART III B : Presenting Findings</a:t>
            </a:r>
            <a:br>
              <a:rPr lang="en-US" sz="3500" b="1">
                <a:solidFill>
                  <a:srgbClr val="EF413D"/>
                </a:solidFill>
              </a:rPr>
            </a:br>
            <a:r>
              <a:rPr lang="en-US" sz="1000" b="1">
                <a:solidFill>
                  <a:srgbClr val="EF413D"/>
                </a:solidFill>
              </a:rPr>
              <a:t> </a:t>
            </a:r>
            <a:br>
              <a:rPr lang="en-US" b="1"/>
            </a:br>
            <a:r>
              <a:rPr lang="en-US" sz="3000">
                <a:solidFill>
                  <a:srgbClr val="5A5A5A"/>
                </a:solidFill>
              </a:rPr>
              <a:t>Sales Pipeline Conversion at a SaaS Startup</a:t>
            </a:r>
            <a:endParaRPr sz="3000"/>
          </a:p>
        </p:txBody>
      </p:sp>
      <p:pic>
        <p:nvPicPr>
          <p:cNvPr id="21506" name="Picture 2">
            <a:extLst>
              <a:ext uri="{FF2B5EF4-FFF2-40B4-BE49-F238E27FC236}">
                <a16:creationId xmlns:a16="http://schemas.microsoft.com/office/drawing/2014/main" id="{243BC772-8A6A-7442-0480-8F35FCAA0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09316" y="234521"/>
            <a:ext cx="1524000" cy="7334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272</TotalTime>
  <Words>2259</Words>
  <Application>Microsoft Office PowerPoint</Application>
  <PresentationFormat>Widescreen</PresentationFormat>
  <Paragraphs>395</Paragraphs>
  <Slides>23</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Lato</vt:lpstr>
      <vt:lpstr>Arial</vt:lpstr>
      <vt:lpstr>Calibri</vt:lpstr>
      <vt:lpstr>Office Theme</vt:lpstr>
      <vt:lpstr>ASSIGNMENT GUIDELINES</vt:lpstr>
      <vt:lpstr>ASSIGNMENT   Name: Manish Shah.</vt:lpstr>
      <vt:lpstr>PART I : 1. Understanding the Problem   Sales Pipeline Conversion at a SaaS Startup</vt:lpstr>
      <vt:lpstr>PART I : 2. Understanding the Problem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PART II : Formulating Hypotheses   Sales Pipeline Conversion at a SaaS Startup</vt:lpstr>
      <vt:lpstr>PowerPoint Presentation</vt:lpstr>
      <vt:lpstr>PowerPoint Presentation</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A : Generating Insights   Sales Pipeline Conversion at a SaaS Startup</vt:lpstr>
      <vt:lpstr>PART III B : Presenting Findings   Sales Pipeline Conversion at a SaaS Startup</vt:lpstr>
      <vt:lpstr>PART III B : Presenting Findings   Sales Pipeline Conversion at a SaaS Startup</vt:lpstr>
      <vt:lpstr>PART III B : Presenting Findings   Sales Pipeline Conversion at a SaaS Startup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GUIDELINES</dc:title>
  <cp:lastModifiedBy>Manish Shah</cp:lastModifiedBy>
  <cp:revision>26</cp:revision>
  <dcterms:modified xsi:type="dcterms:W3CDTF">2025-07-31T04:06:36Z</dcterms:modified>
</cp:coreProperties>
</file>